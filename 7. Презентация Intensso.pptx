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2" r:id="rId8"/>
    <p:sldId id="281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CE"/>
    <a:srgbClr val="D2D592"/>
    <a:srgbClr val="FDFBF6"/>
    <a:srgbClr val="202C8F"/>
    <a:srgbClr val="AAC4E9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96" y="48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Тестирование сайта ресторана </a:t>
            </a:r>
            <a:r>
              <a:rPr lang="en-US" dirty="0"/>
              <a:t>“</a:t>
            </a:r>
            <a:r>
              <a:rPr lang="en-US" dirty="0" err="1"/>
              <a:t>Intensso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68BF4A9-2FCC-D2F8-C085-617A55FB5E05}"/>
              </a:ext>
            </a:extLst>
          </p:cNvPr>
          <p:cNvSpPr txBox="1">
            <a:spLocks/>
          </p:cNvSpPr>
          <p:nvPr/>
        </p:nvSpPr>
        <p:spPr>
          <a:xfrm>
            <a:off x="3222931" y="4561830"/>
            <a:ext cx="5746140" cy="383122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2000" dirty="0">
                <a:solidFill>
                  <a:srgbClr val="FDFBF6"/>
                </a:solidFill>
              </a:rPr>
              <a:t>Презентация дипломной работы</a:t>
            </a:r>
            <a:endParaRPr lang="en-US" sz="2000" dirty="0">
              <a:solidFill>
                <a:srgbClr val="FDFBF6"/>
              </a:solidFill>
            </a:endParaRPr>
          </a:p>
          <a:p>
            <a:r>
              <a:rPr lang="ru-RU" sz="2000" dirty="0">
                <a:solidFill>
                  <a:srgbClr val="FDFBF6"/>
                </a:solidFill>
              </a:rPr>
              <a:t>Группы </a:t>
            </a:r>
            <a:r>
              <a:rPr lang="en-US" sz="2000" dirty="0">
                <a:solidFill>
                  <a:srgbClr val="FDFBF6"/>
                </a:solidFill>
              </a:rPr>
              <a:t>Qa416</a:t>
            </a:r>
            <a:endParaRPr lang="ru-RU" sz="2000" dirty="0">
              <a:solidFill>
                <a:srgbClr val="FDFBF6"/>
              </a:solidFill>
            </a:endParaRPr>
          </a:p>
          <a:p>
            <a:pPr algn="r"/>
            <a:r>
              <a:rPr lang="ru-RU" sz="2000" dirty="0">
                <a:solidFill>
                  <a:srgbClr val="FDFBF6"/>
                </a:solidFill>
              </a:rPr>
              <a:t>Васина Вениамина Викторовича</a:t>
            </a:r>
          </a:p>
          <a:p>
            <a:r>
              <a:rPr lang="ru-RU" sz="2000" dirty="0">
                <a:solidFill>
                  <a:srgbClr val="FDFBF6"/>
                </a:solidFill>
              </a:rPr>
              <a:t>2025 г.</a:t>
            </a:r>
            <a:endParaRPr lang="en-US" sz="2000" dirty="0">
              <a:solidFill>
                <a:srgbClr val="FDFBF6"/>
              </a:solidFill>
            </a:endParaRPr>
          </a:p>
          <a:p>
            <a:pPr algn="r"/>
            <a:br>
              <a:rPr lang="en-US" sz="2000" dirty="0">
                <a:solidFill>
                  <a:srgbClr val="FDFBF6"/>
                </a:solidFill>
              </a:rPr>
            </a:br>
            <a:endParaRPr lang="en-US" sz="2000" dirty="0">
              <a:solidFill>
                <a:srgbClr val="FDFB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>
            <a:normAutofit fontScale="85000" lnSpcReduction="20000"/>
          </a:bodyPr>
          <a:lstStyle>
            <a:defPPr>
              <a:defRPr lang="ru-RU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Проверить, готов ли сайт к выводу в эксплуатацию</a:t>
            </a:r>
            <a:r>
              <a:rPr lang="en-US" dirty="0"/>
              <a:t>;</a:t>
            </a:r>
            <a:endParaRPr lang="ru-RU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Найти</a:t>
            </a:r>
            <a:r>
              <a:rPr lang="en-US" dirty="0"/>
              <a:t> </a:t>
            </a:r>
            <a:r>
              <a:rPr lang="ru-RU" dirty="0"/>
              <a:t>ошибки, которые могли бы повлиять на работу веб-ресурса и оттолкнуть пользователей</a:t>
            </a:r>
            <a:r>
              <a:rPr lang="en-US" dirty="0"/>
              <a:t>;</a:t>
            </a:r>
            <a:endParaRPr lang="ru-RU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Составить качественную документацию по итогам тестирования</a:t>
            </a:r>
            <a:r>
              <a:rPr lang="en-US" dirty="0"/>
              <a:t>;</a:t>
            </a:r>
            <a:endParaRPr lang="ru-RU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Обратиться к разработчикам с обратной связью об их продукте, предоставив им набор документов</a:t>
            </a:r>
            <a:r>
              <a:rPr lang="en-US" dirty="0"/>
              <a:t>;</a:t>
            </a:r>
            <a:endParaRPr lang="ru-RU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Итоговые советы и рекомендации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568" y="4666003"/>
            <a:ext cx="5723586" cy="203199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Сайт ресторана </a:t>
            </a:r>
            <a:r>
              <a:rPr lang="en-US" dirty="0"/>
              <a:t>“</a:t>
            </a:r>
            <a:r>
              <a:rPr lang="en-US" dirty="0" err="1"/>
              <a:t>Intensso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C768A6-635C-D322-29A7-34280A0EE4C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846" r="15377"/>
          <a:stretch/>
        </p:blipFill>
        <p:spPr>
          <a:xfrm>
            <a:off x="0" y="0"/>
            <a:ext cx="6748568" cy="4739104"/>
          </a:xfrm>
          <a:ln w="292100">
            <a:solidFill>
              <a:srgbClr val="D2D592"/>
            </a:solidFill>
          </a:ln>
        </p:spPr>
      </p:pic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85F72DB9-12BE-DCFD-43CA-2EECA73AFA56}"/>
              </a:ext>
            </a:extLst>
          </p:cNvPr>
          <p:cNvSpPr/>
          <p:nvPr/>
        </p:nvSpPr>
        <p:spPr>
          <a:xfrm>
            <a:off x="188007" y="4777099"/>
            <a:ext cx="2230453" cy="1700613"/>
          </a:xfrm>
          <a:custGeom>
            <a:avLst/>
            <a:gdLst>
              <a:gd name="connsiteX0" fmla="*/ 2230453 w 2230453"/>
              <a:gd name="connsiteY0" fmla="*/ 25637 h 1700613"/>
              <a:gd name="connsiteX1" fmla="*/ 1008404 w 2230453"/>
              <a:gd name="connsiteY1" fmla="*/ 640935 h 1700613"/>
              <a:gd name="connsiteX2" fmla="*/ 683664 w 2230453"/>
              <a:gd name="connsiteY2" fmla="*/ 1700613 h 1700613"/>
              <a:gd name="connsiteX3" fmla="*/ 0 w 2230453"/>
              <a:gd name="connsiteY3" fmla="*/ 1606609 h 1700613"/>
              <a:gd name="connsiteX4" fmla="*/ 76913 w 2230453"/>
              <a:gd name="connsiteY4" fmla="*/ 25637 h 1700613"/>
              <a:gd name="connsiteX5" fmla="*/ 222191 w 2230453"/>
              <a:gd name="connsiteY5" fmla="*/ 0 h 1700613"/>
              <a:gd name="connsiteX6" fmla="*/ 2230453 w 2230453"/>
              <a:gd name="connsiteY6" fmla="*/ 25637 h 170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0453" h="1700613">
                <a:moveTo>
                  <a:pt x="2230453" y="25637"/>
                </a:moveTo>
                <a:lnTo>
                  <a:pt x="1008404" y="640935"/>
                </a:lnTo>
                <a:lnTo>
                  <a:pt x="683664" y="1700613"/>
                </a:lnTo>
                <a:lnTo>
                  <a:pt x="0" y="1606609"/>
                </a:lnTo>
                <a:lnTo>
                  <a:pt x="76913" y="25637"/>
                </a:lnTo>
                <a:lnTo>
                  <a:pt x="222191" y="0"/>
                </a:lnTo>
                <a:lnTo>
                  <a:pt x="2230453" y="25637"/>
                </a:lnTo>
                <a:close/>
              </a:path>
            </a:pathLst>
          </a:custGeom>
          <a:solidFill>
            <a:srgbClr val="D2D592"/>
          </a:solidFill>
          <a:ln>
            <a:solidFill>
              <a:srgbClr val="D2D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D2D5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Работы по тестированию охватили следующие компоненты веб-ресурса: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Главная страница сайта</a:t>
            </a:r>
            <a:r>
              <a:rPr lang="en-US" dirty="0"/>
              <a:t>;</a:t>
            </a:r>
            <a:endParaRPr lang="ru-RU" dirty="0"/>
          </a:p>
          <a:p>
            <a:pPr rtl="0"/>
            <a:r>
              <a:rPr lang="ru-RU" dirty="0"/>
              <a:t>Страница бронирования столика</a:t>
            </a:r>
            <a:r>
              <a:rPr lang="en-US" dirty="0"/>
              <a:t>;</a:t>
            </a:r>
            <a:endParaRPr lang="ru-RU" dirty="0"/>
          </a:p>
          <a:p>
            <a:pPr rtl="0"/>
            <a:r>
              <a:rPr lang="ru-RU" dirty="0"/>
              <a:t>Страница подтверждения бронирования</a:t>
            </a:r>
            <a:r>
              <a:rPr lang="en-US" dirty="0"/>
              <a:t>;</a:t>
            </a:r>
            <a:endParaRPr lang="ru-RU" dirty="0"/>
          </a:p>
          <a:p>
            <a:pPr rtl="0"/>
            <a:r>
              <a:rPr lang="ru-RU" dirty="0"/>
              <a:t>Форма бронирования</a:t>
            </a:r>
            <a:r>
              <a:rPr lang="en-US" dirty="0"/>
              <a:t>;</a:t>
            </a:r>
          </a:p>
          <a:p>
            <a:pPr rtl="0"/>
            <a:r>
              <a:rPr lang="en-US" dirty="0"/>
              <a:t>API </a:t>
            </a:r>
            <a:r>
              <a:rPr lang="ru-RU" dirty="0"/>
              <a:t>сайта.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008718-13B1-2929-8C19-D2FFEFBC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794" y="3387058"/>
            <a:ext cx="3204985" cy="317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BD15111-BF9B-17BB-BF2D-32D2B625DEBA}"/>
              </a:ext>
            </a:extLst>
          </p:cNvPr>
          <p:cNvSpPr/>
          <p:nvPr/>
        </p:nvSpPr>
        <p:spPr>
          <a:xfrm>
            <a:off x="5866572" y="3305175"/>
            <a:ext cx="4866912" cy="35673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ADFF990-1EC5-CD3C-3524-AA613F5B765A}"/>
              </a:ext>
            </a:extLst>
          </p:cNvPr>
          <p:cNvSpPr/>
          <p:nvPr/>
        </p:nvSpPr>
        <p:spPr>
          <a:xfrm>
            <a:off x="6610351" y="61653"/>
            <a:ext cx="5581650" cy="37470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Основной функционал сайта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Демонстрация меню блюд ресторана</a:t>
            </a:r>
            <a:r>
              <a:rPr lang="en-US" dirty="0"/>
              <a:t>;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Бронирование столиков</a:t>
            </a:r>
            <a:r>
              <a:rPr lang="en-US" dirty="0"/>
              <a:t>;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Информация о местонахождении ресторана.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E66F62-39B3-A3C4-4C69-91CC1DA8F4B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37" r="406"/>
          <a:stretch/>
        </p:blipFill>
        <p:spPr>
          <a:xfrm>
            <a:off x="6967720" y="399192"/>
            <a:ext cx="4866912" cy="3029547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F8A2049-474A-871C-65AC-B2CE9B911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54" y="3552303"/>
            <a:ext cx="4231730" cy="303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5329" y="515967"/>
            <a:ext cx="3164036" cy="77447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Тест-план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B359E7-E43C-BCD3-8762-E07A98357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133" y="1652186"/>
            <a:ext cx="6143625" cy="3868397"/>
          </a:xfrm>
          <a:prstGeom prst="rect">
            <a:avLst/>
          </a:prstGeom>
          <a:ln w="254000">
            <a:solidFill>
              <a:srgbClr val="F5CDCE"/>
            </a:solidFill>
          </a:ln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506" y="151603"/>
            <a:ext cx="7796464" cy="61119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Чек-лист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7DD57B9-5E6B-5667-B22A-215E189E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48" y="1343586"/>
            <a:ext cx="3750715" cy="3608283"/>
          </a:xfrm>
          <a:prstGeom prst="rect">
            <a:avLst/>
          </a:prstGeom>
          <a:ln w="254000">
            <a:solidFill>
              <a:srgbClr val="F5CDCE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605542-EF08-A31E-7505-80352E1A5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163" y="3714750"/>
            <a:ext cx="4318119" cy="2299868"/>
          </a:xfrm>
          <a:prstGeom prst="rect">
            <a:avLst/>
          </a:prstGeom>
          <a:ln w="254000">
            <a:solidFill>
              <a:srgbClr val="F5CDCE"/>
            </a:solidFill>
          </a:ln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81" y="563741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Тестовый набор </a:t>
            </a:r>
            <a:r>
              <a:rPr lang="en-US" dirty="0"/>
              <a:t>/</a:t>
            </a:r>
            <a:r>
              <a:rPr lang="ru-RU" dirty="0"/>
              <a:t> тестовая коллекция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560013-059D-748F-0310-D57F262A0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2013795"/>
            <a:ext cx="3774331" cy="3939330"/>
          </a:xfrm>
          <a:prstGeom prst="rect">
            <a:avLst/>
          </a:prstGeom>
          <a:ln w="254000">
            <a:solidFill>
              <a:srgbClr val="F5CDCE"/>
            </a:solidFill>
          </a:ln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8C9839E-AA03-1BDF-8693-0F6A18D9B7E7}"/>
              </a:ext>
            </a:extLst>
          </p:cNvPr>
          <p:cNvSpPr/>
          <p:nvPr/>
        </p:nvSpPr>
        <p:spPr>
          <a:xfrm>
            <a:off x="11744325" y="3449125"/>
            <a:ext cx="552450" cy="589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ABB2C60-C404-38CF-81EA-FAFBA9F09F45}"/>
              </a:ext>
            </a:extLst>
          </p:cNvPr>
          <p:cNvSpPr/>
          <p:nvPr/>
        </p:nvSpPr>
        <p:spPr>
          <a:xfrm>
            <a:off x="-109453" y="3358141"/>
            <a:ext cx="552450" cy="3671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19268-93BD-AB26-4CBC-03248607201A}"/>
              </a:ext>
            </a:extLst>
          </p:cNvPr>
          <p:cNvSpPr txBox="1"/>
          <p:nvPr/>
        </p:nvSpPr>
        <p:spPr>
          <a:xfrm>
            <a:off x="7156560" y="712195"/>
            <a:ext cx="3908276" cy="1754326"/>
          </a:xfrm>
          <a:prstGeom prst="rect">
            <a:avLst/>
          </a:prstGeom>
          <a:solidFill>
            <a:srgbClr val="F5CDCE"/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ходе тестирования было проведено: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 тестовых сценариев ручного тестирования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тестовых сценариев автоматического тестирования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168D2E-DD35-4209-D639-4F9642CB0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372" y="2532392"/>
            <a:ext cx="3908277" cy="3613413"/>
          </a:xfrm>
          <a:prstGeom prst="rect">
            <a:avLst/>
          </a:prstGeom>
          <a:ln w="254000">
            <a:solidFill>
              <a:srgbClr val="F5CDCE"/>
            </a:solidFill>
          </a:ln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Отчёт о тестировании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714309" cy="372181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Объект тестирования: </a:t>
            </a:r>
            <a:r>
              <a:rPr lang="en-US" dirty="0" err="1"/>
              <a:t>intensso.vercel.app</a:t>
            </a:r>
            <a:endParaRPr lang="en-US" dirty="0"/>
          </a:p>
          <a:p>
            <a:pPr rtl="0"/>
            <a:r>
              <a:rPr lang="ru-RU" dirty="0"/>
              <a:t>Исполнитель: Васин В.В.</a:t>
            </a:r>
          </a:p>
          <a:p>
            <a:pPr rtl="0"/>
            <a:r>
              <a:rPr lang="ru-RU" dirty="0"/>
              <a:t>Дата проведения: 11.01.2025 – 19.12.2025</a:t>
            </a:r>
          </a:p>
          <a:p>
            <a:pPr rtl="0"/>
            <a:r>
              <a:rPr lang="ru-RU" dirty="0"/>
              <a:t>Основная цель тестирования: </a:t>
            </a:r>
            <a:br>
              <a:rPr lang="ru-RU" dirty="0"/>
            </a:br>
            <a:r>
              <a:rPr lang="ru-RU" dirty="0"/>
              <a:t>Выявить наличие несоответствий ожидаемых результатов фактическим исходя из точки зрения обыкновенного пользователя</a:t>
            </a:r>
            <a:r>
              <a:rPr lang="en-US" dirty="0"/>
              <a:t> </a:t>
            </a:r>
            <a:r>
              <a:rPr lang="ru-RU" dirty="0"/>
              <a:t>желающего посетить ресторан.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1026" name="Picture 2" descr="QA-инженер: чем занимается и сколько зарабатывает в России">
            <a:extLst>
              <a:ext uri="{FF2B5EF4-FFF2-40B4-BE49-F238E27FC236}">
                <a16:creationId xmlns:a16="http://schemas.microsoft.com/office/drawing/2014/main" id="{D3B7600C-2A80-0709-1B32-51CA7586C7FF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900"/>
                    </a14:imgEffect>
                    <a14:imgEffect>
                      <a14:saturation sat="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18" r="2231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Диаграмма прогона тест-кейсов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529D04-EAEF-7E60-4B4C-8713B6EB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49" y="2571749"/>
            <a:ext cx="10462177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711613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Самые критичные баги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0916CD97-F97E-E886-CB3B-093D1B347539}"/>
              </a:ext>
            </a:extLst>
          </p:cNvPr>
          <p:cNvSpPr txBox="1">
            <a:spLocks/>
          </p:cNvSpPr>
          <p:nvPr/>
        </p:nvSpPr>
        <p:spPr>
          <a:xfrm>
            <a:off x="1550564" y="1955974"/>
            <a:ext cx="5767754" cy="4709089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r>
              <a:rPr lang="ru-RU" sz="2400" dirty="0"/>
              <a:t>Активная кнопка «Заказать» при нереализованной функции заказа блюд</a:t>
            </a:r>
            <a:r>
              <a:rPr lang="en-US" sz="2400" dirty="0"/>
              <a:t> </a:t>
            </a:r>
            <a:r>
              <a:rPr lang="ru-RU" sz="2400" dirty="0"/>
              <a:t>на карточке «Тирамису». На других карточках кнопка не активна.</a:t>
            </a:r>
            <a:endParaRPr lang="en-US" sz="2400" dirty="0"/>
          </a:p>
          <a:p>
            <a:r>
              <a:rPr lang="ru-RU" sz="2400" dirty="0"/>
              <a:t>Ссылки на соц. сети указывают на несуществующие веб-ресурсы.</a:t>
            </a:r>
          </a:p>
          <a:p>
            <a:r>
              <a:rPr lang="ru-RU" sz="2400" dirty="0"/>
              <a:t>Отправка напоминания на </a:t>
            </a:r>
            <a:r>
              <a:rPr lang="en-US" sz="2400" dirty="0"/>
              <a:t>email </a:t>
            </a:r>
            <a:r>
              <a:rPr lang="ru-RU" sz="2400" dirty="0"/>
              <a:t>не реализована, но есть кнопка «Отправить напоминание» и она активна.</a:t>
            </a:r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C8EA95D8-BA60-9E70-0983-DA240EAFEA9E}"/>
              </a:ext>
            </a:extLst>
          </p:cNvPr>
          <p:cNvSpPr txBox="1">
            <a:spLocks/>
          </p:cNvSpPr>
          <p:nvPr/>
        </p:nvSpPr>
        <p:spPr>
          <a:xfrm>
            <a:off x="7318318" y="1946175"/>
            <a:ext cx="4357867" cy="4709089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r>
              <a:rPr lang="ru-RU" sz="2400" dirty="0"/>
              <a:t>Контактная информация и адрес, указанный в встроенной </a:t>
            </a:r>
            <a:r>
              <a:rPr lang="ru-RU" sz="2400" dirty="0" err="1"/>
              <a:t>геометке</a:t>
            </a:r>
            <a:r>
              <a:rPr lang="ru-RU" sz="2400" dirty="0"/>
              <a:t> указаны неверно.</a:t>
            </a:r>
          </a:p>
          <a:p>
            <a:r>
              <a:rPr lang="ru-RU" sz="2400" dirty="0"/>
              <a:t>Страницы, которых не существует, но сайт предоставляет возможность перехода на них: Полное меню, Вакансии.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  <a:r>
              <a:rPr lang="en-US" dirty="0"/>
              <a:t>!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Васин Вениамин</a:t>
            </a:r>
          </a:p>
          <a:p>
            <a:pPr rtl="0"/>
            <a:r>
              <a:rPr lang="en-US" dirty="0"/>
              <a:t>QA416-3(1)</a:t>
            </a:r>
          </a:p>
          <a:p>
            <a:pPr rtl="0"/>
            <a:r>
              <a:rPr lang="ru-RU" dirty="0"/>
              <a:t>Тестирование сайта ресторана </a:t>
            </a:r>
            <a:r>
              <a:rPr lang="en-US" dirty="0"/>
              <a:t>“</a:t>
            </a:r>
            <a:r>
              <a:rPr lang="en-US" dirty="0" err="1"/>
              <a:t>Intensso</a:t>
            </a:r>
            <a:r>
              <a:rPr lang="en-US" dirty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{637772E4-622A-4F64-A627-1EB4AAB3CEA0}TF8a9b5915-b8c7-461e-8cdd-693d48b5e323138ae9a7_win32-fecfc327da1f</Template>
  <TotalTime>159</TotalTime>
  <Words>295</Words>
  <Application>Microsoft Office PowerPoint</Application>
  <PresentationFormat>Широкоэкранный</PresentationFormat>
  <Paragraphs>53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Пользовательская</vt:lpstr>
      <vt:lpstr>Тестирование сайта ресторана “Intensso”</vt:lpstr>
      <vt:lpstr>Цель проекта</vt:lpstr>
      <vt:lpstr>Сайт ресторана “Intensso”</vt:lpstr>
      <vt:lpstr>Работы по тестированию охватили следующие компоненты веб-ресурса:</vt:lpstr>
      <vt:lpstr>Основной функционал сайта</vt:lpstr>
      <vt:lpstr>Тест-план</vt:lpstr>
      <vt:lpstr>Чек-лист</vt:lpstr>
      <vt:lpstr>Тестовый набор / тестовая коллекция</vt:lpstr>
      <vt:lpstr>Отчёт о тестировании</vt:lpstr>
      <vt:lpstr>Диаграмма прогона тест-кейсов</vt:lpstr>
      <vt:lpstr>Самые критичные баги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Васин Вениамин Викторович</dc:creator>
  <cp:lastModifiedBy>Васин Вениамин Викторович</cp:lastModifiedBy>
  <cp:revision>4</cp:revision>
  <dcterms:created xsi:type="dcterms:W3CDTF">2025-12-19T08:17:59Z</dcterms:created>
  <dcterms:modified xsi:type="dcterms:W3CDTF">2025-12-19T10:57:22Z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